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90" r:id="rId2"/>
    <p:sldId id="291" r:id="rId3"/>
    <p:sldId id="292" r:id="rId4"/>
    <p:sldId id="293" r:id="rId5"/>
    <p:sldId id="294" r:id="rId6"/>
    <p:sldId id="295" r:id="rId7"/>
    <p:sldId id="296" r:id="rId8"/>
    <p:sldId id="297" r:id="rId9"/>
    <p:sldId id="299" r:id="rId10"/>
    <p:sldId id="301" r:id="rId11"/>
    <p:sldId id="302" r:id="rId12"/>
    <p:sldId id="303" r:id="rId13"/>
    <p:sldId id="304" r:id="rId14"/>
    <p:sldId id="305" r:id="rId15"/>
    <p:sldId id="306" r:id="rId16"/>
    <p:sldId id="307" r:id="rId17"/>
    <p:sldId id="308" r:id="rId18"/>
    <p:sldId id="309"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CE8BEA-0210-C150-5C83-1CC9C2E75528}" v="6" dt="2026-10-01T08:26:55.08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5"/>
  </p:normalViewPr>
  <p:slideViewPr>
    <p:cSldViewPr snapToGrid="0">
      <p:cViewPr varScale="1">
        <p:scale>
          <a:sx n="107" d="100"/>
          <a:sy n="107" d="100"/>
        </p:scale>
        <p:origin x="64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647514876"/>
              </p:ext>
            </p:extLst>
          </p:nvPr>
        </p:nvGraphicFramePr>
        <p:xfrm>
          <a:off x="1103438" y="2073251"/>
          <a:ext cx="10546255" cy="4232783"/>
        </p:xfrm>
        <a:graphic>
          <a:graphicData uri="http://schemas.openxmlformats.org/drawingml/2006/table">
            <a:tbl>
              <a:tblPr>
                <a:noFill/>
                <a:tableStyleId>{0AAD8F4D-43EB-41E5-8A38-28AB6DFB1B60}</a:tableStyleId>
              </a:tblPr>
              <a:tblGrid>
                <a:gridCol w="2317897">
                  <a:extLst>
                    <a:ext uri="{9D8B030D-6E8A-4147-A177-3AD203B41FA5}">
                      <a16:colId xmlns:a16="http://schemas.microsoft.com/office/drawing/2014/main" val="20000"/>
                    </a:ext>
                  </a:extLst>
                </a:gridCol>
                <a:gridCol w="2742786">
                  <a:extLst>
                    <a:ext uri="{9D8B030D-6E8A-4147-A177-3AD203B41FA5}">
                      <a16:colId xmlns:a16="http://schemas.microsoft.com/office/drawing/2014/main" val="20002"/>
                    </a:ext>
                  </a:extLst>
                </a:gridCol>
                <a:gridCol w="2742786">
                  <a:extLst>
                    <a:ext uri="{9D8B030D-6E8A-4147-A177-3AD203B41FA5}">
                      <a16:colId xmlns:a16="http://schemas.microsoft.com/office/drawing/2014/main" val="20003"/>
                    </a:ext>
                  </a:extLst>
                </a:gridCol>
                <a:gridCol w="2742786">
                  <a:extLst>
                    <a:ext uri="{9D8B030D-6E8A-4147-A177-3AD203B41FA5}">
                      <a16:colId xmlns:a16="http://schemas.microsoft.com/office/drawing/2014/main" val="20004"/>
                    </a:ext>
                  </a:extLst>
                </a:gridCol>
              </a:tblGrid>
              <a:tr h="1900903">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331880">
                <a:tc>
                  <a:txBody>
                    <a:bodyPr/>
                    <a:lstStyle/>
                    <a:p>
                      <a:pPr marL="0" marR="0" lvl="0" indent="0" algn="l" rtl="0">
                        <a:spcBef>
                          <a:spcPts val="0"/>
                        </a:spcBef>
                        <a:spcAft>
                          <a:spcPts val="0"/>
                        </a:spcAft>
                        <a:buNone/>
                      </a:pPr>
                      <a:r>
                        <a:rPr lang="en-US" sz="2000" dirty="0"/>
                        <a:t>Mohit Yadav</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mohit071206@gmail.com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600" dirty="0"/>
                        <a:t>9828246297</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Healthcare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cs typeface="Times New Roman"/>
                <a:sym typeface="Times New Roman"/>
              </a:rPr>
              <a:t>Nutrition Agent</a:t>
            </a:r>
            <a:r>
              <a:rPr lang="en-US" sz="2400" b="1" dirty="0">
                <a:highlight>
                  <a:srgbClr val="FFFF00"/>
                </a:highlight>
              </a:rPr>
              <a:t>]</a:t>
            </a:r>
            <a:endParaRPr lang="en-IN" sz="2400" b="1" dirty="0">
              <a:highlight>
                <a:srgbClr val="FFFF00"/>
              </a:highlight>
            </a:endParaRPr>
          </a:p>
        </p:txBody>
      </p:sp>
      <p:pic>
        <p:nvPicPr>
          <p:cNvPr id="3" name="Picture 2">
            <a:extLst>
              <a:ext uri="{FF2B5EF4-FFF2-40B4-BE49-F238E27FC236}">
                <a16:creationId xmlns:a16="http://schemas.microsoft.com/office/drawing/2014/main" id="{06528FDA-D72F-F02A-D2E0-6A72FA2C778E}"/>
              </a:ext>
            </a:extLst>
          </p:cNvPr>
          <p:cNvPicPr>
            <a:picLocks noChangeAspect="1"/>
          </p:cNvPicPr>
          <p:nvPr/>
        </p:nvPicPr>
        <p:blipFill>
          <a:blip r:embed="rId3"/>
          <a:stretch>
            <a:fillRect/>
          </a:stretch>
        </p:blipFill>
        <p:spPr>
          <a:xfrm>
            <a:off x="3764478" y="3960716"/>
            <a:ext cx="1904010" cy="2345318"/>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Nutrition Agent</a:t>
            </a:r>
            <a:r>
              <a:rPr lang="en-US"/>
              <a:t> </a:t>
            </a:r>
          </a:p>
          <a:p>
            <a:pPr fontAlgn="base"/>
            <a:endParaRPr lang="en-US" b="1"/>
          </a:p>
          <a:p>
            <a:pPr fontAlgn="base"/>
            <a:r>
              <a:rPr lang="en-US" b="1"/>
              <a:t>The Challenge</a:t>
            </a:r>
            <a:r>
              <a:rPr lang="en-US"/>
              <a:t> </a:t>
            </a:r>
          </a:p>
          <a:p>
            <a:pPr fontAlgn="base"/>
            <a:r>
              <a:rPr lang="en-US"/>
              <a:t>Good nutrition is the foundation of health, but individuals often struggle with </a:t>
            </a:r>
            <a:r>
              <a:rPr lang="en-US" b="1"/>
              <a:t>diet planning, portion control, and tracking nutritional intake</a:t>
            </a:r>
            <a:r>
              <a:rPr lang="en-US"/>
              <a:t>. Information about healthy diets, disease-specific nutrition, and food composition is scattered across unreliable sources. Without </a:t>
            </a:r>
            <a:r>
              <a:rPr lang="en-US" b="1"/>
              <a:t>personalized, real-time guidance</a:t>
            </a:r>
            <a:r>
              <a:rPr lang="en-US"/>
              <a:t>, many fail to maintain balanced diets or make informed food choices. </a:t>
            </a:r>
          </a:p>
          <a:p>
            <a:pPr fontAlgn="base"/>
            <a:endParaRPr lang="en-US"/>
          </a:p>
          <a:p>
            <a:pPr fontAlgn="base"/>
            <a:r>
              <a:rPr lang="en-US" b="1"/>
              <a:t>The Objective</a:t>
            </a:r>
            <a:r>
              <a:rPr lang="en-US"/>
              <a:t> </a:t>
            </a:r>
          </a:p>
          <a:p>
            <a:pPr fontAlgn="base"/>
            <a:r>
              <a:rPr lang="en-US"/>
              <a:t>Build an </a:t>
            </a:r>
            <a:r>
              <a:rPr lang="en-US" b="1"/>
              <a:t>AI-powered Nutrition Agent</a:t>
            </a:r>
            <a:r>
              <a:rPr lang="en-US"/>
              <a:t> that delivers </a:t>
            </a:r>
            <a:r>
              <a:rPr lang="en-US" b="1"/>
              <a:t>personalized dietary insights and guidance</a:t>
            </a:r>
            <a:r>
              <a:rPr lang="en-US"/>
              <a:t> for individuals, families, and health professionals. The solution should: </a:t>
            </a:r>
          </a:p>
          <a:p>
            <a:pPr marL="285750" indent="-285750" fontAlgn="base">
              <a:buFont typeface="Arial" panose="020B0604020202020204" pitchFamily="34" charset="0"/>
              <a:buChar char="•"/>
            </a:pPr>
            <a:r>
              <a:rPr lang="en-US" b="1"/>
              <a:t>Personalized Diet Plans</a:t>
            </a:r>
            <a:r>
              <a:rPr lang="en-US"/>
              <a:t> – Recommend meals based on age, health conditions, allergies, cultural preferences, and fitness goals. </a:t>
            </a:r>
          </a:p>
          <a:p>
            <a:pPr marL="285750" indent="-285750" fontAlgn="base">
              <a:buFont typeface="Arial" panose="020B0604020202020204" pitchFamily="34" charset="0"/>
              <a:buChar char="•"/>
            </a:pPr>
            <a:r>
              <a:rPr lang="en-US" b="1"/>
              <a:t>Food Data RAG Retrieval</a:t>
            </a:r>
            <a:r>
              <a:rPr lang="en-US"/>
              <a:t> – Fetch and summarize nutritional values (calories, macros, vitamins) from reliable sources. </a:t>
            </a:r>
          </a:p>
          <a:p>
            <a:pPr marL="285750" indent="-285750" fontAlgn="base">
              <a:buFont typeface="Arial" panose="020B0604020202020204" pitchFamily="34" charset="0"/>
              <a:buChar char="•"/>
            </a:pPr>
            <a:r>
              <a:rPr lang="en-US" b="1"/>
              <a:t>Diet Tracking &amp; Feedback</a:t>
            </a:r>
            <a:r>
              <a:rPr lang="en-US"/>
              <a:t> – Allow users to log meals via text, images, or voice, and provide instant nutritional analysis. </a:t>
            </a:r>
          </a:p>
          <a:p>
            <a:pPr marL="285750" indent="-285750" fontAlgn="base">
              <a:buFont typeface="Arial" panose="020B0604020202020204" pitchFamily="34" charset="0"/>
              <a:buChar char="•"/>
            </a:pPr>
            <a:r>
              <a:rPr lang="en-US" b="1"/>
              <a:t>Preventive Health Focus</a:t>
            </a:r>
            <a:r>
              <a:rPr lang="en-US"/>
              <a:t> – Suggest diets for chronic disease management (e.g., diabetes-friendly or heart-healthy plans). </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Nutrition Knowledge Agent</a:t>
            </a:r>
            <a:r>
              <a:rPr lang="en-US"/>
              <a:t> (fetches nutritional data) </a:t>
            </a:r>
          </a:p>
          <a:p>
            <a:pPr marL="285750" indent="-285750" fontAlgn="base">
              <a:buFont typeface="Arial" panose="020B0604020202020204" pitchFamily="34" charset="0"/>
              <a:buChar char="•"/>
            </a:pPr>
            <a:r>
              <a:rPr lang="en-US" b="1"/>
              <a:t>Diet Recommendation Agent</a:t>
            </a:r>
            <a:r>
              <a:rPr lang="en-US"/>
              <a:t> (personalized meal plans) </a:t>
            </a:r>
          </a:p>
          <a:p>
            <a:pPr marL="285750" indent="-285750" fontAlgn="base">
              <a:buFont typeface="Arial" panose="020B0604020202020204" pitchFamily="34" charset="0"/>
              <a:buChar char="•"/>
            </a:pPr>
            <a:r>
              <a:rPr lang="en-US" b="1"/>
              <a:t>Health Advisory Agent</a:t>
            </a:r>
            <a:r>
              <a:rPr lang="en-US"/>
              <a:t> (preventive health suggestions) </a:t>
            </a:r>
          </a:p>
          <a:p>
            <a:pPr marL="285750" indent="-285750" fontAlgn="base">
              <a:buFont typeface="Arial" panose="020B0604020202020204" pitchFamily="34" charset="0"/>
              <a:buChar char="•"/>
            </a:pPr>
            <a:r>
              <a:rPr lang="en-US" b="1"/>
              <a:t>Food Log &amp; Feedback Agent</a:t>
            </a:r>
            <a:r>
              <a:rPr lang="en-US"/>
              <a:t> (meal tracking + analysis) </a:t>
            </a:r>
          </a:p>
          <a:p>
            <a:pPr marL="285750" indent="-285750" fontAlgn="base">
              <a:buFont typeface="Arial" panose="020B0604020202020204" pitchFamily="34" charset="0"/>
              <a:buChar char="•"/>
            </a:pPr>
            <a:r>
              <a:rPr lang="en-US" b="1"/>
              <a:t>Visualization Dashboard</a:t>
            </a:r>
            <a:r>
              <a:rPr lang="en-US"/>
              <a:t> – Show daily/weekly nutrient intake, deficiencies, and progress toward health goals.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a:t>IBM Bob, IBM </a:t>
            </a:r>
            <a:r>
              <a:rPr lang="en-US" b="1" dirty="0" err="1"/>
              <a:t>watsonx.ai</a:t>
            </a:r>
            <a:r>
              <a:rPr lang="en-US" b="1" dirty="0"/>
              <a:t>,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a:t>IBM Bob is used to orchestrate agent workflows, while </a:t>
            </a:r>
            <a:r>
              <a:rPr lang="en-US" dirty="0" err="1"/>
              <a:t>watsonx.ai</a:t>
            </a:r>
            <a:r>
              <a:rPr lang="en-US" dirty="0"/>
              <a:t>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a:t>IBM Bob platform </a:t>
            </a:r>
            <a:r>
              <a:rPr lang="en-US" sz="180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a:t>
            </a:r>
            <a:r>
              <a:rPr lang="en-US" sz="1800" b="1" err="1"/>
              <a:t>Grainte</a:t>
            </a:r>
            <a:r>
              <a:rPr lang="en-US" sz="1800" b="1"/>
              <a:t> model </a:t>
            </a:r>
            <a:r>
              <a:rPr lang="en-US" sz="1800"/>
              <a:t>-  for </a:t>
            </a:r>
            <a:r>
              <a:rPr lang="en-US" sz="1800" err="1"/>
              <a:t>eg</a:t>
            </a:r>
            <a:r>
              <a:rPr lang="en-US" sz="180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a:p>
          <a:p>
            <a:pPr marL="342900" indent="-342900">
              <a:buFont typeface="+mj-lt"/>
              <a:buAutoNum type="arabicPeriod"/>
            </a:pPr>
            <a:r>
              <a:rPr lang="en-US" sz="1800"/>
              <a:t>App.py</a:t>
            </a:r>
          </a:p>
          <a:p>
            <a:pPr marL="342900" indent="-342900">
              <a:buFont typeface="+mj-lt"/>
              <a:buAutoNum type="arabicPeriod"/>
            </a:pPr>
            <a:endParaRPr lang="en-US" sz="1800"/>
          </a:p>
          <a:p>
            <a:pPr marL="342900" indent="-342900">
              <a:buFont typeface="+mj-lt"/>
              <a:buAutoNum type="arabicPeriod"/>
            </a:pPr>
            <a:r>
              <a:rPr lang="en-US" sz="1800"/>
              <a:t>Requirements.txt</a:t>
            </a:r>
          </a:p>
          <a:p>
            <a:pPr marL="342900" indent="-342900">
              <a:buFont typeface="+mj-lt"/>
              <a:buAutoNum type="arabicPeriod"/>
            </a:pPr>
            <a:endParaRPr lang="en-US" sz="1800"/>
          </a:p>
          <a:p>
            <a:pPr marL="342900" indent="-342900">
              <a:buFont typeface="+mj-lt"/>
              <a:buAutoNum type="arabicPeriod"/>
            </a:pPr>
            <a:r>
              <a:rPr lang="en-US" sz="1800"/>
              <a:t>Style.css </a:t>
            </a:r>
          </a:p>
          <a:p>
            <a:pPr marL="342900" indent="-342900">
              <a:buFont typeface="+mj-lt"/>
              <a:buAutoNum type="arabicPeriod"/>
            </a:pPr>
            <a:endParaRPr lang="en-US" sz="1800"/>
          </a:p>
          <a:p>
            <a:pPr marL="342900" indent="-342900">
              <a:buFont typeface="+mj-lt"/>
              <a:buAutoNum type="arabicPeriod"/>
            </a:pPr>
            <a:r>
              <a:rPr lang="en-US" sz="1800"/>
              <a:t>.env</a:t>
            </a:r>
          </a:p>
          <a:p>
            <a:pPr marL="342900" indent="-342900">
              <a:buFont typeface="+mj-lt"/>
              <a:buAutoNum type="arabicPeriod"/>
            </a:pPr>
            <a:endParaRPr lang="en-US" sz="1800"/>
          </a:p>
          <a:p>
            <a:pPr marL="342900" indent="-342900">
              <a:buFont typeface="+mj-lt"/>
              <a:buAutoNum type="arabicPeriod"/>
            </a:pPr>
            <a:r>
              <a:rPr lang="en-US" sz="1800"/>
              <a:t>Index.html</a:t>
            </a:r>
          </a:p>
          <a:p>
            <a:endParaRPr lang="en-US"/>
          </a:p>
          <a:p>
            <a:endParaRPr lang="en-US"/>
          </a:p>
          <a:p>
            <a:endParaRPr lang="en-US"/>
          </a:p>
          <a:p>
            <a:endParaRPr lang="en-US"/>
          </a:p>
          <a:p>
            <a:endParaRPr lang="en-US"/>
          </a:p>
          <a:p>
            <a:endParaRPr lang="en-US"/>
          </a:p>
          <a:p>
            <a:endParaRPr lang="en-US"/>
          </a:p>
          <a:p>
            <a:endParaRPr lang="en-US"/>
          </a:p>
          <a:p>
            <a:r>
              <a:rPr lang="en-US"/>
              <a:t> </a:t>
            </a:r>
            <a:endParaRPr lang="en-IN"/>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51386EBF-8F82-718A-5EA0-0D240A83BE6A}"/>
              </a:ext>
            </a:extLst>
          </p:cNvPr>
          <p:cNvPicPr>
            <a:picLocks noChangeAspect="1"/>
          </p:cNvPicPr>
          <p:nvPr/>
        </p:nvPicPr>
        <p:blipFill>
          <a:blip r:embed="rId3"/>
          <a:stretch>
            <a:fillRect/>
          </a:stretch>
        </p:blipFill>
        <p:spPr>
          <a:xfrm>
            <a:off x="1603168" y="918722"/>
            <a:ext cx="8985663" cy="5616039"/>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tretch>
            <a:fillRect/>
          </a:stretch>
        </p:blipFill>
        <p:spPr>
          <a:xfrm>
            <a:off x="157335" y="400546"/>
            <a:ext cx="11145396"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25A1E8E9-B4D7-5AA3-673A-3F068CBA6399}"/>
              </a:ext>
            </a:extLst>
          </p:cNvPr>
          <p:cNvPicPr>
            <a:picLocks noChangeAspect="1"/>
          </p:cNvPicPr>
          <p:nvPr/>
        </p:nvPicPr>
        <p:blipFill>
          <a:blip r:embed="rId3"/>
          <a:stretch>
            <a:fillRect/>
          </a:stretch>
        </p:blipFill>
        <p:spPr>
          <a:xfrm>
            <a:off x="1080655" y="816977"/>
            <a:ext cx="10260280" cy="5662113"/>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FDD2F35-0734-5D89-B1D8-C9FBE2F967B4}"/>
              </a:ext>
            </a:extLst>
          </p:cNvPr>
          <p:cNvPicPr>
            <a:picLocks noChangeAspect="1"/>
          </p:cNvPicPr>
          <p:nvPr/>
        </p:nvPicPr>
        <p:blipFill>
          <a:blip r:embed="rId3"/>
          <a:stretch>
            <a:fillRect/>
          </a:stretch>
        </p:blipFill>
        <p:spPr>
          <a:xfrm>
            <a:off x="1218724" y="664523"/>
            <a:ext cx="10205892" cy="5925936"/>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F986C3EB-4FC7-0533-1656-A18071CFED26}"/>
              </a:ext>
            </a:extLst>
          </p:cNvPr>
          <p:cNvPicPr>
            <a:picLocks noChangeAspect="1"/>
          </p:cNvPicPr>
          <p:nvPr/>
        </p:nvPicPr>
        <p:blipFill>
          <a:blip r:embed="rId3"/>
          <a:stretch>
            <a:fillRect/>
          </a:stretch>
        </p:blipFill>
        <p:spPr>
          <a:xfrm>
            <a:off x="775854" y="794820"/>
            <a:ext cx="10802588" cy="5702576"/>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2325282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3AFAA2FF-6638-D0E5-EF25-E526DB7C3D27}"/>
              </a:ext>
            </a:extLst>
          </p:cNvPr>
          <p:cNvPicPr>
            <a:picLocks noChangeAspect="1"/>
          </p:cNvPicPr>
          <p:nvPr/>
        </p:nvPicPr>
        <p:blipFill>
          <a:blip r:embed="rId2"/>
          <a:stretch>
            <a:fillRect/>
          </a:stretch>
        </p:blipFill>
        <p:spPr>
          <a:xfrm>
            <a:off x="1646653" y="1367169"/>
            <a:ext cx="8898694" cy="5482725"/>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F63B38E9-509A-0932-2215-EC92021A75B9}"/>
              </a:ext>
            </a:extLst>
          </p:cNvPr>
          <p:cNvPicPr>
            <a:picLocks noChangeAspect="1"/>
          </p:cNvPicPr>
          <p:nvPr/>
        </p:nvPicPr>
        <p:blipFill>
          <a:blip r:embed="rId2"/>
          <a:stretch>
            <a:fillRect/>
          </a:stretch>
        </p:blipFill>
        <p:spPr>
          <a:xfrm>
            <a:off x="2048323" y="1477578"/>
            <a:ext cx="9326103" cy="5920749"/>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1302</Words>
  <Application>Microsoft Macintosh PowerPoint</Application>
  <PresentationFormat>Widescreen</PresentationFormat>
  <Paragraphs>131</Paragraphs>
  <Slides>18</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919828246297</cp:lastModifiedBy>
  <cp:revision>26</cp:revision>
  <dcterms:created xsi:type="dcterms:W3CDTF">2025-07-08T05:06:56Z</dcterms:created>
  <dcterms:modified xsi:type="dcterms:W3CDTF">2026-10-07T06:54:54Z</dcterms:modified>
</cp:coreProperties>
</file>